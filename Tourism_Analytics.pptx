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Season Spend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AA5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AEB-4431-8A0D-D89A0E7DC81A}"/>
              </c:ext>
            </c:extLst>
          </c:dPt>
          <c:dPt>
            <c:idx val="1"/>
            <c:bubble3D val="0"/>
            <c:spPr>
              <a:solidFill>
                <a:srgbClr val="F0C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EB-4431-8A0D-D89A0E7DC81A}"/>
              </c:ext>
            </c:extLst>
          </c:dPt>
          <c:dPt>
            <c:idx val="2"/>
            <c:bubble3D val="0"/>
            <c:spPr>
              <a:solidFill>
                <a:srgbClr val="B08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AEB-4431-8A0D-D89A0E7DC81A}"/>
              </c:ext>
            </c:extLst>
          </c:dPt>
          <c:dPt>
            <c:idx val="3"/>
            <c:bubble3D val="0"/>
            <c:spPr>
              <a:solidFill>
                <a:srgbClr val="2C2C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AEB-4431-8A0D-D89A0E7DC81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AEB-4431-8A0D-D89A0E7DC81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AEB-4431-8A0D-D89A0E7DC81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AEB-4431-8A0D-D89A0E7DC81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AEB-4431-8A0D-D89A0E7DC81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Autumn</c:v>
                </c:pt>
                <c:pt idx="1">
                  <c:v>Summer</c:v>
                </c:pt>
                <c:pt idx="2">
                  <c:v>Spring</c:v>
                </c:pt>
                <c:pt idx="3">
                  <c:v>Winter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14167751</c:v>
                </c:pt>
                <c:pt idx="1">
                  <c:v>14019285</c:v>
                </c:pt>
                <c:pt idx="2">
                  <c:v>13866416</c:v>
                </c:pt>
                <c:pt idx="3">
                  <c:v>13301538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AEB-4431-8A0D-D89A0E7DC8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4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 (USD)</c:v>
                </c:pt>
              </c:strCache>
            </c:strRef>
          </c:tx>
          <c:spPr>
            <a:solidFill>
              <a:srgbClr val="DAA52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1D-475A-BC32-BB84F16628C5}"/>
              </c:ext>
            </c:extLst>
          </c:dPt>
          <c:dPt>
            <c:idx val="1"/>
            <c:invertIfNegative val="0"/>
            <c:bubble3D val="0"/>
            <c:spPr>
              <a:solidFill>
                <a:srgbClr val="C8A0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1D-475A-BC32-BB84F16628C5}"/>
              </c:ext>
            </c:extLst>
          </c:dPt>
          <c:dPt>
            <c:idx val="2"/>
            <c:invertIfNegative val="0"/>
            <c:bubble3D val="0"/>
            <c:spPr>
              <a:solidFill>
                <a:srgbClr val="B08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1D-475A-BC32-BB84F16628C5}"/>
              </c:ext>
            </c:extLst>
          </c:dPt>
          <c:dPt>
            <c:idx val="3"/>
            <c:invertIfNegative val="0"/>
            <c:bubble3D val="0"/>
            <c:spPr>
              <a:solidFill>
                <a:srgbClr val="907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21D-475A-BC32-BB84F16628C5}"/>
              </c:ext>
            </c:extLst>
          </c:dPt>
          <c:dPt>
            <c:idx val="4"/>
            <c:invertIfNegative val="0"/>
            <c:bubble3D val="0"/>
            <c:spPr>
              <a:solidFill>
                <a:srgbClr val="2C2C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21D-475A-BC32-BB84F16628C5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Train</c:v>
                </c:pt>
                <c:pt idx="1">
                  <c:v>Flight</c:v>
                </c:pt>
                <c:pt idx="2">
                  <c:v>Ferry</c:v>
                </c:pt>
                <c:pt idx="3">
                  <c:v>Cruise</c:v>
                </c:pt>
                <c:pt idx="4">
                  <c:v>Road Trip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11488652</c:v>
                </c:pt>
                <c:pt idx="1">
                  <c:v>11371696</c:v>
                </c:pt>
                <c:pt idx="2">
                  <c:v>11123835</c:v>
                </c:pt>
                <c:pt idx="3">
                  <c:v>11046370</c:v>
                </c:pt>
                <c:pt idx="4">
                  <c:v>10324437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21D-475A-BC32-BB84F16628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4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Visitors</c:v>
                </c:pt>
              </c:strCache>
            </c:strRef>
          </c:tx>
          <c:spPr>
            <a:solidFill>
              <a:srgbClr val="DAA52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16F-498D-9C2D-FF190FFF379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16F-498D-9C2D-FF190FFF379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16F-498D-9C2D-FF190FFF379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16F-498D-9C2D-FF190FFF379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16F-498D-9C2D-FF190FFF379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16F-498D-9C2D-FF190FFF379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416F-498D-9C2D-FF190FFF379D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416F-498D-9C2D-FF190FFF379D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416F-498D-9C2D-FF190FFF379D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416F-498D-9C2D-FF190FFF379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Turkey</c:v>
                </c:pt>
                <c:pt idx="1">
                  <c:v>New Zealand</c:v>
                </c:pt>
                <c:pt idx="2">
                  <c:v>Croatia</c:v>
                </c:pt>
                <c:pt idx="3">
                  <c:v>UAE (Dubai)</c:v>
                </c:pt>
                <c:pt idx="4">
                  <c:v>Switzerland</c:v>
                </c:pt>
                <c:pt idx="5">
                  <c:v>Egypt</c:v>
                </c:pt>
                <c:pt idx="6">
                  <c:v>Iceland</c:v>
                </c:pt>
                <c:pt idx="7">
                  <c:v>Greece</c:v>
                </c:pt>
                <c:pt idx="8">
                  <c:v>Canada</c:v>
                </c:pt>
                <c:pt idx="9">
                  <c:v>Maldives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409</c:v>
                </c:pt>
                <c:pt idx="1">
                  <c:v>415</c:v>
                </c:pt>
                <c:pt idx="2">
                  <c:v>416</c:v>
                </c:pt>
                <c:pt idx="3">
                  <c:v>418</c:v>
                </c:pt>
                <c:pt idx="4">
                  <c:v>421</c:v>
                </c:pt>
                <c:pt idx="5">
                  <c:v>425</c:v>
                </c:pt>
                <c:pt idx="6">
                  <c:v>427</c:v>
                </c:pt>
                <c:pt idx="7">
                  <c:v>429</c:v>
                </c:pt>
                <c:pt idx="8">
                  <c:v>430</c:v>
                </c:pt>
                <c:pt idx="9">
                  <c:v>432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16F-498D-9C2D-FF190FFF37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4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Spend (USD)</c:v>
                </c:pt>
              </c:strCache>
            </c:strRef>
          </c:tx>
          <c:spPr>
            <a:ln w="38100" cap="flat">
              <a:solidFill>
                <a:srgbClr val="DAA52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AA520"/>
              </a:solidFill>
              <a:ln w="9525" cap="flat">
                <a:solidFill>
                  <a:srgbClr val="DAA520"/>
                </a:solidFill>
                <a:prstDash val="solid"/>
                <a:round/>
              </a:ln>
              <a:effectLst/>
            </c:spPr>
          </c:marker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9101728</c:v>
                </c:pt>
                <c:pt idx="1">
                  <c:v>8985010</c:v>
                </c:pt>
                <c:pt idx="2">
                  <c:v>9190995</c:v>
                </c:pt>
                <c:pt idx="3">
                  <c:v>9864229</c:v>
                </c:pt>
                <c:pt idx="4">
                  <c:v>9163231</c:v>
                </c:pt>
                <c:pt idx="5">
                  <c:v>9049796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844-47FE-93A5-06B0A6F041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4F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Travelers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3C7-4326-9C6A-A05433843E62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C7-4326-9C6A-A05433843E62}"/>
              </c:ext>
            </c:extLst>
          </c:dPt>
          <c:dPt>
            <c:idx val="2"/>
            <c:invertIfNegative val="0"/>
            <c:bubble3D val="0"/>
            <c:spPr>
              <a:solidFill>
                <a:srgbClr val="DAA5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C7-4326-9C6A-A05433843E62}"/>
              </c:ext>
            </c:extLst>
          </c:dPt>
          <c:dPt>
            <c:idx val="3"/>
            <c:invertIfNegative val="0"/>
            <c:bubble3D val="0"/>
            <c:spPr>
              <a:solidFill>
                <a:srgbClr val="2E7D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3C7-4326-9C6A-A05433843E62}"/>
              </c:ext>
            </c:extLst>
          </c:dPt>
          <c:dPt>
            <c:idx val="4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3C7-4326-9C6A-A05433843E6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Very Dissatisfied</c:v>
                </c:pt>
                <c:pt idx="1">
                  <c:v>Dissatisfied</c:v>
                </c:pt>
                <c:pt idx="2">
                  <c:v>Neutral</c:v>
                </c:pt>
                <c:pt idx="3">
                  <c:v>Satisfied</c:v>
                </c:pt>
                <c:pt idx="4">
                  <c:v>Very Satisfied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483</c:v>
                </c:pt>
                <c:pt idx="1">
                  <c:v>1013</c:v>
                </c:pt>
                <c:pt idx="2">
                  <c:v>1975</c:v>
                </c:pt>
                <c:pt idx="3">
                  <c:v>3077</c:v>
                </c:pt>
                <c:pt idx="4">
                  <c:v>3452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3C7-4326-9C6A-A05433843E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73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59436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200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TOURISM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38912" y="135331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DASHBOARD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38912" y="2084832"/>
            <a:ext cx="6309360" cy="36576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22128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Travel Pattern Analysis  |  2019 – 2024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26060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Trips  •  35 Columns  •  6 Years of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79" y="647700"/>
            <a:ext cx="19448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68490" y="886968"/>
            <a:ext cx="2175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Anand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Saundarya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69480" y="2121408"/>
            <a:ext cx="146304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2331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$55.35M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0" y="2596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0" y="2852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040880" y="3118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0" y="33741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$5,535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040880" y="36393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Avg/Trip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0880" y="38953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3.80★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40880" y="4160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40880" y="431977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16.2 Days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065487" y="4586955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Duration</a:t>
            </a:r>
            <a:endParaRPr lang="en-US" sz="9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200400"/>
            <a:ext cx="384048" cy="3840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60120" y="32552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Analysis Report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-176784" y="4788123"/>
            <a:ext cx="9320784" cy="370332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4783551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Tourism Analytics  |  Comprehensive Report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566928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566928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 — Key Performance Indicators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" y="804672"/>
            <a:ext cx="2779776" cy="1170432"/>
          </a:xfrm>
          <a:prstGeom prst="rect">
            <a:avLst/>
          </a:prstGeom>
          <a:solidFill>
            <a:srgbClr val="2C2C3E"/>
          </a:solidFill>
          <a:ln w="12700">
            <a:solidFill>
              <a:srgbClr val="DAA5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37744" y="877824"/>
            <a:ext cx="263347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$55.35M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37744" y="1530340"/>
            <a:ext cx="2633472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(USD)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27248" y="804672"/>
            <a:ext cx="2779776" cy="1170432"/>
          </a:xfrm>
          <a:prstGeom prst="rect">
            <a:avLst/>
          </a:prstGeom>
          <a:solidFill>
            <a:srgbClr val="2C2C3E"/>
          </a:solidFill>
          <a:ln w="12700">
            <a:solidFill>
              <a:srgbClr val="DAA5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877824"/>
            <a:ext cx="263347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530340"/>
            <a:ext cx="2633472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Visitors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9904" y="804672"/>
            <a:ext cx="2779776" cy="1170432"/>
          </a:xfrm>
          <a:prstGeom prst="rect">
            <a:avLst/>
          </a:prstGeom>
          <a:solidFill>
            <a:srgbClr val="2C2C3E"/>
          </a:solidFill>
          <a:ln w="12700">
            <a:solidFill>
              <a:srgbClr val="DAA5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63056" y="877824"/>
            <a:ext cx="263347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$5,535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63056" y="1530340"/>
            <a:ext cx="2633472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/ Trip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" y="2066544"/>
            <a:ext cx="2779776" cy="1170432"/>
          </a:xfrm>
          <a:prstGeom prst="rect">
            <a:avLst/>
          </a:prstGeom>
          <a:solidFill>
            <a:srgbClr val="2C2C3E"/>
          </a:solidFill>
          <a:ln w="12700">
            <a:solidFill>
              <a:srgbClr val="DAA5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7744" y="2139696"/>
            <a:ext cx="263347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16.21 Days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37744" y="2792212"/>
            <a:ext cx="2633472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Trip Duration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27248" y="2066544"/>
            <a:ext cx="2779776" cy="1170432"/>
          </a:xfrm>
          <a:prstGeom prst="rect">
            <a:avLst/>
          </a:prstGeom>
          <a:solidFill>
            <a:srgbClr val="2C2C3E"/>
          </a:solidFill>
          <a:ln w="12700">
            <a:solidFill>
              <a:srgbClr val="DAA5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2139696"/>
            <a:ext cx="263347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3.80 / 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00400" y="2792212"/>
            <a:ext cx="2633472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9904" y="2066544"/>
            <a:ext cx="2779776" cy="1170432"/>
          </a:xfrm>
          <a:prstGeom prst="rect">
            <a:avLst/>
          </a:prstGeom>
          <a:solidFill>
            <a:srgbClr val="2C2C3E"/>
          </a:solidFill>
          <a:ln w="12700">
            <a:solidFill>
              <a:srgbClr val="DAA5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63056" y="2139696"/>
            <a:ext cx="263347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63.4%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163056" y="2792212"/>
            <a:ext cx="2633472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Recommend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" y="3337560"/>
            <a:ext cx="8814816" cy="1417320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24" name="Shape 22"/>
          <p:cNvSpPr/>
          <p:nvPr/>
        </p:nvSpPr>
        <p:spPr>
          <a:xfrm>
            <a:off x="164592" y="3337560"/>
            <a:ext cx="8814816" cy="45720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401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3703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Autumn leads seasonal spend (25.6%) — all four seasons within a narrow 1.57% band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3904488"/>
            <a:ext cx="8503920" cy="2011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tops all travel modes by revenue ($11.49M), narrowly ahead of Flight ($11.37M)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105656"/>
            <a:ext cx="8503920" cy="2011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Greece, Czech Republic &amp; Maldives are the top 3 destinations by total tourist spending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4306824"/>
            <a:ext cx="8503920" cy="2011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(16.2%) has nearly equalled Credit Cards (17.3%) as a payment method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4507992"/>
            <a:ext cx="8503920" cy="2011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65.3% of travelers were Satisfied or Very Satisfied — 19.75% Neutral is the key gap to close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873752"/>
            <a:ext cx="5943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Tourism Analytics  •  2019–2024  •  Anand Saundarya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4873752"/>
            <a:ext cx="2560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Spending by Season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distribution — near-equal across all four seasons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234440"/>
          <a:ext cx="42062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1234440"/>
            <a:ext cx="42976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663440" y="1234440"/>
            <a:ext cx="73152" cy="7132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9" name="Text 6"/>
          <p:cNvSpPr/>
          <p:nvPr/>
        </p:nvSpPr>
        <p:spPr>
          <a:xfrm>
            <a:off x="4828032" y="128930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Autumn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28032" y="158191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$14.17M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0" y="1344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25.60%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663440" y="2039112"/>
            <a:ext cx="42976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039112"/>
            <a:ext cx="73152" cy="713232"/>
          </a:xfrm>
          <a:prstGeom prst="rect">
            <a:avLst/>
          </a:prstGeom>
          <a:solidFill>
            <a:srgbClr val="C8A010"/>
          </a:solidFill>
          <a:ln/>
        </p:spPr>
      </p:sp>
      <p:sp>
        <p:nvSpPr>
          <p:cNvPr id="14" name="Text 11"/>
          <p:cNvSpPr/>
          <p:nvPr/>
        </p:nvSpPr>
        <p:spPr>
          <a:xfrm>
            <a:off x="4828032" y="20939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28032" y="2386584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$14.02M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40880" y="2148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C8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25.33%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4663440" y="2843784"/>
            <a:ext cx="42976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2843784"/>
            <a:ext cx="73152" cy="713232"/>
          </a:xfrm>
          <a:prstGeom prst="rect">
            <a:avLst/>
          </a:prstGeom>
          <a:solidFill>
            <a:srgbClr val="9060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28986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28032" y="319125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$13.87M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040880" y="2953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906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25.06%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4663440" y="3648456"/>
            <a:ext cx="42976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3648456"/>
            <a:ext cx="73152" cy="713232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24" name="Text 21"/>
          <p:cNvSpPr/>
          <p:nvPr/>
        </p:nvSpPr>
        <p:spPr>
          <a:xfrm>
            <a:off x="4828032" y="370332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Winter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828032" y="399592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$13.30M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040880" y="37581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24.03%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4663440" y="4480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1.57% gap between highest (Autumn) and lowest (Winter) signals year-round demand and reduced peak-season dependency.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29" name="Text 26"/>
          <p:cNvSpPr/>
          <p:nvPr/>
        </p:nvSpPr>
        <p:spPr>
          <a:xfrm>
            <a:off x="274320" y="4873752"/>
            <a:ext cx="5943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Tourism Analytics  •  2019–2024  •  Anand Saundarya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400800" y="4873752"/>
            <a:ext cx="2560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by Travel Mode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across 5 primary transport modes — competitive landscape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143000"/>
          <a:ext cx="52120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143000"/>
            <a:ext cx="3291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27101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11978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172200" y="14721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&amp; Asian intercity rail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772400" y="1234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20.75%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669280" y="1874520"/>
            <a:ext cx="3291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00253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19293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Flight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72200" y="22037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Long-haul international routes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7772400" y="1965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20.54%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5669280" y="2606040"/>
            <a:ext cx="3291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273405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72200" y="26609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Ferry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172200" y="29352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 &amp; coastal destinations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772400" y="2697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20.09%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5669280" y="3337560"/>
            <a:ext cx="3291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465576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172200" y="33924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Cruise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172200" y="36667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multi-destination tours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7772400" y="3429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19.95%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5669280" y="4069080"/>
            <a:ext cx="3291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4197096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172200" y="41239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 Trip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6172200" y="43982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&amp; regional exploration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7772400" y="41605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18.65%</a:t>
            </a:r>
            <a:endParaRPr lang="en-US" sz="1800" dirty="0"/>
          </a:p>
        </p:txBody>
      </p:sp>
      <p:sp>
        <p:nvSpPr>
          <p:cNvPr id="32" name="Shape 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33" name="Text 25"/>
          <p:cNvSpPr/>
          <p:nvPr/>
        </p:nvSpPr>
        <p:spPr>
          <a:xfrm>
            <a:off x="274320" y="4873752"/>
            <a:ext cx="5943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Tourism Analytics  •  2019–2024  •  Anand Saundarya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6400800" y="4873752"/>
            <a:ext cx="2560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Destination Countries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visitor count — global reach across 6 continents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14300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1143000"/>
            <a:ext cx="347472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0" y="1143000"/>
            <a:ext cx="347472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9" name="Text 6"/>
          <p:cNvSpPr/>
          <p:nvPr/>
        </p:nvSpPr>
        <p:spPr>
          <a:xfrm>
            <a:off x="557784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🥇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126480" y="1234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Maldives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26480" y="1545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432 visitors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26480" y="1801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 luxury leader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0" y="2258568"/>
            <a:ext cx="347472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0" y="2258568"/>
            <a:ext cx="347472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2368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🥈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126480" y="2350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Canada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126480" y="26609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430 visitors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29169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Nature, cities &amp; culture blend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0" y="3374136"/>
            <a:ext cx="347472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0" y="3374136"/>
            <a:ext cx="347472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21" name="Text 18"/>
          <p:cNvSpPr/>
          <p:nvPr/>
        </p:nvSpPr>
        <p:spPr>
          <a:xfrm>
            <a:off x="557784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🥉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126480" y="34655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Greece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126480" y="3776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429 visitors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26480" y="40325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Mediterranean beaches &amp; history</a:t>
            </a:r>
            <a:endParaRPr lang="en-US" sz="9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4462272"/>
            <a:ext cx="320040" cy="3200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989320" y="4480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holds 5 of top 10 spots. Greece &amp; Maldives lead both visitor count AND total spend.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28" name="Text 24"/>
          <p:cNvSpPr/>
          <p:nvPr/>
        </p:nvSpPr>
        <p:spPr>
          <a:xfrm>
            <a:off x="274320" y="4873752"/>
            <a:ext cx="5943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Tourism Analytics  •  2019–2024  •  Anand Saundarya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400800" y="4873752"/>
            <a:ext cx="2560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Trends: 2019 – 2024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 trajectory through pandemic and recovery cycle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143000"/>
          <a:ext cx="53949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143000"/>
            <a:ext cx="3108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143000"/>
            <a:ext cx="54864" cy="43891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6"/>
          <p:cNvSpPr/>
          <p:nvPr/>
        </p:nvSpPr>
        <p:spPr>
          <a:xfrm>
            <a:off x="5989320" y="11704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28816" y="11704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$9.10M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89320" y="138074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Pre-pandemic peak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52160" y="1655064"/>
            <a:ext cx="3108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52160" y="1655064"/>
            <a:ext cx="54864" cy="43891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5989320" y="16824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28816" y="16824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$8.99M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89320" y="18928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-1.3%  COVID-19 impact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52160" y="2167128"/>
            <a:ext cx="3108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2167128"/>
            <a:ext cx="54864" cy="43891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21945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28816" y="21945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$9.19M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89320" y="24048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+2.3%  Vaccination-led recovery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852160" y="2679192"/>
            <a:ext cx="3108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52160" y="2679192"/>
            <a:ext cx="54864" cy="438912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24" name="Text 21"/>
          <p:cNvSpPr/>
          <p:nvPr/>
        </p:nvSpPr>
        <p:spPr>
          <a:xfrm>
            <a:off x="5989320" y="27066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528816" y="27066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$9.86M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89320" y="291693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+7.3%  Revenge travel boom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852160" y="3191256"/>
            <a:ext cx="3108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852160" y="3191256"/>
            <a:ext cx="54864" cy="43891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32186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528816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$9.16M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989320" y="34290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-7.1%  Normalization phase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852160" y="3703320"/>
            <a:ext cx="3108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852160" y="3703320"/>
            <a:ext cx="54864" cy="438912"/>
          </a:xfrm>
          <a:prstGeom prst="rect">
            <a:avLst/>
          </a:prstGeom>
          <a:solidFill>
            <a:srgbClr val="8A8A9A"/>
          </a:solidFill>
          <a:ln/>
        </p:spPr>
      </p:sp>
      <p:sp>
        <p:nvSpPr>
          <p:cNvPr id="34" name="Text 31"/>
          <p:cNvSpPr/>
          <p:nvPr/>
        </p:nvSpPr>
        <p:spPr>
          <a:xfrm>
            <a:off x="5989320" y="37307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528816" y="3730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$9.05M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989320" y="394106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-1.2%  Stable plateau</a:t>
            </a:r>
            <a:endParaRPr lang="en-US" sz="9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343400"/>
            <a:ext cx="301752" cy="30175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13232" y="43616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'revenge travel' boom was the standout year at +7.3%. The sector is now stabilizing at a sustainable post-pandemic baseline.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40" name="Text 36"/>
          <p:cNvSpPr/>
          <p:nvPr/>
        </p:nvSpPr>
        <p:spPr>
          <a:xfrm>
            <a:off x="274320" y="4873752"/>
            <a:ext cx="5943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Tourism Analytics  •  2019–2024  •  Anand Saundarya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6400800" y="4873752"/>
            <a:ext cx="2560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Satisfaction &amp; Quality Metrics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 experience ratings and recommendation data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14300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143000"/>
            <a:ext cx="33832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143000"/>
            <a:ext cx="3383280" cy="45720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0" y="12344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3.80 / 5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086600" y="12161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86600" y="1490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midpoint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1947672"/>
            <a:ext cx="33832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1947672"/>
            <a:ext cx="3383280" cy="4572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0" y="20391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63.4%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86600" y="20208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Would Recommend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86600" y="22951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NPS indicator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2752344"/>
            <a:ext cx="33832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2752344"/>
            <a:ext cx="3383280" cy="45720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28437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65.3%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086600" y="282549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Positive Rate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086600" y="30998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 + Very Satisfied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577840" y="3557016"/>
            <a:ext cx="33832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3557016"/>
            <a:ext cx="3383280" cy="4572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0" y="36484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29.5%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086600" y="36301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Visitors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086600" y="3904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destination loyalty</a:t>
            </a:r>
            <a:endParaRPr lang="en-US" sz="95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160520"/>
            <a:ext cx="301752" cy="30175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3232" y="41788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19.75% Neutral travelers are the key conversion target — expectations met but not exceeded. Experiential upgrades can move them to Satisfied.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30" name="Text 26"/>
          <p:cNvSpPr/>
          <p:nvPr/>
        </p:nvSpPr>
        <p:spPr>
          <a:xfrm>
            <a:off x="274320" y="4873752"/>
            <a:ext cx="5943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Tourism Analytics  •  2019–2024  •  Anand Saundarya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400800" y="4873752"/>
            <a:ext cx="2560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566928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566928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4297680" cy="1901952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804672"/>
            <a:ext cx="4297680" cy="45720"/>
          </a:xfrm>
          <a:prstGeom prst="rect">
            <a:avLst/>
          </a:prstGeom>
          <a:solidFill>
            <a:srgbClr val="DAA52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4183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93268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Destination Marketing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1371600"/>
            <a:ext cx="4005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Greece &amp; Maldives: yield over volume — dual high-spend + high-visitor status makes them premium targets.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20391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 campaigns should focus on the 35-54 age segment across all seasons.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2880" y="2862072"/>
            <a:ext cx="4297680" cy="1901952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12" name="Shape 9"/>
          <p:cNvSpPr/>
          <p:nvPr/>
        </p:nvSpPr>
        <p:spPr>
          <a:xfrm>
            <a:off x="182880" y="2862072"/>
            <a:ext cx="4297680" cy="45720"/>
          </a:xfrm>
          <a:prstGeom prst="rect">
            <a:avLst/>
          </a:prstGeom>
          <a:solidFill>
            <a:srgbClr val="DAA52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99923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" y="299008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Travel Operators &amp; OTAs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0040" y="3429000"/>
            <a:ext cx="4005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crypto &amp; Travel Card payments immediately — combined 32.45% share shows clear demand.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20040" y="40965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differentiated products for 55-64 and 65+ segments: comfort, health &amp; accessibility.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804672"/>
            <a:ext cx="4297680" cy="1901952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18" name="Shape 14"/>
          <p:cNvSpPr/>
          <p:nvPr/>
        </p:nvSpPr>
        <p:spPr>
          <a:xfrm>
            <a:off x="4663440" y="804672"/>
            <a:ext cx="4297680" cy="45720"/>
          </a:xfrm>
          <a:prstGeom prst="rect">
            <a:avLst/>
          </a:prstGeom>
          <a:solidFill>
            <a:srgbClr val="DAA520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941832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30368" y="93268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 &amp; Infrastructure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00600" y="1371600"/>
            <a:ext cx="4005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rail for intra-European &amp; intra-Asian corridors where Train leads revenue ($11.49M).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00600" y="20391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sustainable modes (train, ferry) to the 12.22% Eco-Tourism segment.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663440" y="2862072"/>
            <a:ext cx="4297680" cy="1901952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24" name="Shape 19"/>
          <p:cNvSpPr/>
          <p:nvPr/>
        </p:nvSpPr>
        <p:spPr>
          <a:xfrm>
            <a:off x="4663440" y="2862072"/>
            <a:ext cx="4297680" cy="45720"/>
          </a:xfrm>
          <a:prstGeom prst="rect">
            <a:avLst/>
          </a:prstGeom>
          <a:solidFill>
            <a:srgbClr val="DAA520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999232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30368" y="299008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&amp; Data Strategy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800600" y="3429000"/>
            <a:ext cx="4005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 age + purpose + destination for hyper-personalization — broad segments no longer suffice.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800600" y="409651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2020-2022 pandemic structural breaks in all forecasting models.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30" name="Text 24"/>
          <p:cNvSpPr/>
          <p:nvPr/>
        </p:nvSpPr>
        <p:spPr>
          <a:xfrm>
            <a:off x="274320" y="4873752"/>
            <a:ext cx="5943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Tourism Analytics  •  2019–2024  •  Anand Saundarya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400800" y="4873752"/>
            <a:ext cx="25603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Tourism Analytics Dashboard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557784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83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showed resilience through 2020 — only -1.3% decline despite COVID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67128"/>
            <a:ext cx="557784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revenge travel boom peaked at +7.3% YoY; normalization followed in 2023-24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51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Near-uniform distributions signal a highly diversified global travel market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35224"/>
            <a:ext cx="557784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65.3% positive satisfaction — 34.7% improvement opportunity remains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319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payments approaching Credit Card parity is a landmark fintech shift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Adventure, Business &amp; Medical are the top 3 travel purpose categories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502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804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Anand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Saundarya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0" y="1481328"/>
            <a:ext cx="201168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19293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Analyzed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22311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$55.35M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4963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7980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3063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3364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Yrs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3630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3931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AA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3.80★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41970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11120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Tourism Analytics  |  Power BI Dashboard  |  2019-2024  |  Anand Saundarya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818</Words>
  <Application>Microsoft Office PowerPoint</Application>
  <PresentationFormat>On-screen Show (16:9)</PresentationFormat>
  <Paragraphs>183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Tourism Analytics Dashboard</dc:title>
  <dc:subject>PptxGenJS Presentation</dc:subject>
  <dc:creator>Anand Saundarya</dc:creator>
  <cp:lastModifiedBy>Anand Saundarya</cp:lastModifiedBy>
  <cp:revision>4</cp:revision>
  <dcterms:created xsi:type="dcterms:W3CDTF">2026-03-29T08:29:08Z</dcterms:created>
  <dcterms:modified xsi:type="dcterms:W3CDTF">2026-03-29T11:11:37Z</dcterms:modified>
</cp:coreProperties>
</file>